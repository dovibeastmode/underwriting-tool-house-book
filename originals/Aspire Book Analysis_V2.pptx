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526195-047A-43E4-AA03-BD0D79A4FCBA}">
  <a:tblStyle styleId="{2F526195-047A-43E4-AA03-BD0D79A4FC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6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1005840"/>
            <a:ext cx="1371600" cy="1371600"/>
          </a:xfrm>
          <a:prstGeom prst="ellipse">
            <a:avLst/>
          </a:prstGeom>
          <a:solidFill>
            <a:srgbClr val="DCE8F7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07040" y="2194560"/>
            <a:ext cx="731520" cy="731520"/>
          </a:xfrm>
          <a:prstGeom prst="ellipse">
            <a:avLst/>
          </a:prstGeom>
          <a:solidFill>
            <a:srgbClr val="DCE8F7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235440" y="2651760"/>
            <a:ext cx="457200" cy="457200"/>
          </a:xfrm>
          <a:prstGeom prst="ellipse">
            <a:avLst/>
          </a:prstGeom>
          <a:solidFill>
            <a:srgbClr val="DCE8F7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8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CE8F7"/>
                </a:solidFill>
                <a:latin typeface="Arial"/>
                <a:ea typeface="Arial"/>
                <a:cs typeface="Arial"/>
                <a:sym typeface="Arial"/>
              </a:rPr>
              <a:t>ASPIRE FUNDING 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House Book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3429000"/>
            <a:ext cx="10424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8F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CE8F7"/>
                </a:solidFill>
                <a:latin typeface="Arial"/>
                <a:ea typeface="Arial"/>
                <a:cs typeface="Arial"/>
                <a:sym typeface="Arial"/>
              </a:rPr>
              <a:t>Deals funded 11/01/2024 through 06/30/2026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22960" y="47091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$30,540,626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822960" y="5486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FB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FB5"/>
                </a:solidFill>
                <a:latin typeface="Arial"/>
                <a:ea typeface="Arial"/>
                <a:cs typeface="Arial"/>
                <a:sym typeface="Arial"/>
              </a:rPr>
              <a:t>FUNDED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3611880" y="47091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994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611880" y="5486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FB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FB5"/>
                </a:solidFill>
                <a:latin typeface="Arial"/>
                <a:ea typeface="Arial"/>
                <a:cs typeface="Arial"/>
                <a:sym typeface="Arial"/>
              </a:rPr>
              <a:t>DEALS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400800" y="47091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17.0%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6400800" y="5486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FB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FB5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9189720" y="47091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-4.2%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9189720" y="5486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FB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FB5"/>
                </a:solidFill>
                <a:latin typeface="Arial"/>
                <a:ea typeface="Arial"/>
                <a:cs typeface="Arial"/>
                <a:sym typeface="Arial"/>
              </a:rPr>
              <a:t>RETURN, EXCL. OPEN DEALS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FB5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5B7FB5"/>
                </a:solidFill>
                <a:latin typeface="Arial"/>
                <a:ea typeface="Arial"/>
                <a:cs typeface="Arial"/>
                <a:sym typeface="Arial"/>
              </a:rPr>
              <a:t>Principal lost rate = principal lost on defaulted deals ÷ total funded. Collections to date are netted 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The decided book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48640" y="89611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EXCLUDES 234 OPEN DEALS</a:t>
            </a:r>
            <a:endParaRPr b="0" i="0" sz="1300" u="none" cap="none" strike="noStrike">
              <a:solidFill>
                <a:srgbClr val="6B76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371600"/>
            <a:ext cx="2606040" cy="1691640"/>
          </a:xfrm>
          <a:prstGeom prst="roundRect">
            <a:avLst>
              <a:gd fmla="val 3243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777240" y="1572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$19,467,626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777240" y="21762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FUNDED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777240" y="2487168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760 deals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383280" y="1371600"/>
            <a:ext cx="2606040" cy="1691640"/>
          </a:xfrm>
          <a:prstGeom prst="roundRect">
            <a:avLst>
              <a:gd fmla="val 3243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3611880" y="1572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$18,651,252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3611880" y="21762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COLLECTED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611880" y="2487168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66.5% of contracted payback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17920" y="1371600"/>
            <a:ext cx="2606040" cy="1691640"/>
          </a:xfrm>
          <a:prstGeom prst="roundRect">
            <a:avLst>
              <a:gd fmla="val 3243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6446520" y="1572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A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B03A3A"/>
                </a:solidFill>
                <a:latin typeface="Cambria"/>
                <a:ea typeface="Cambria"/>
                <a:cs typeface="Cambria"/>
                <a:sym typeface="Cambria"/>
              </a:rPr>
              <a:t>-$816,374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6446520" y="21762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NET CASH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6446520" y="2487168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-4.2% return on funded capital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052560" y="1371600"/>
            <a:ext cx="2606040" cy="1691640"/>
          </a:xfrm>
          <a:prstGeom prst="roundRect">
            <a:avLst>
              <a:gd fmla="val 3243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9281160" y="1572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26.6%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9281160" y="21762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9281160" y="2487168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$5,184,923 lost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548640" y="33101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Where the decided book splits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4"/>
          <p:cNvGraphicFramePr/>
          <p:nvPr/>
        </p:nvGraphicFramePr>
        <p:xfrm>
          <a:off x="548640" y="367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063250"/>
                <a:gridCol w="777250"/>
                <a:gridCol w="1417325"/>
                <a:gridCol w="1417325"/>
                <a:gridCol w="1417325"/>
                <a:gridCol w="1051550"/>
                <a:gridCol w="19659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 of decided $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cash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Collected, % of payback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off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$10,228,126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52.5%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7D4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$4,384,377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7D4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42.9%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100.0%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Defaulted Status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$7,849,500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40.3%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3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-$4,817,047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3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-61.4%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</a:t>
                      </a: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</a:rPr>
                        <a:t>6</a:t>
                      </a:r>
                      <a:r>
                        <a:rPr lang="en-US" sz="100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Google Shape;56;p4"/>
          <p:cNvSpPr txBox="1"/>
          <p:nvPr/>
        </p:nvSpPr>
        <p:spPr>
          <a:xfrm>
            <a:off x="548640" y="46817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5120640"/>
            <a:ext cx="11109960" cy="1371600"/>
          </a:xfrm>
          <a:prstGeom prst="roundRect">
            <a:avLst>
              <a:gd fmla="val 4000" name="adj"/>
            </a:avLst>
          </a:prstGeom>
          <a:solidFill>
            <a:srgbClr val="1E3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868680" y="52852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868680" y="559612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8F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ISO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/>
          <p:nvPr/>
        </p:nvSpPr>
        <p:spPr>
          <a:xfrm>
            <a:off x="5806440" y="63825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5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Fundwell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$5,216,626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1.3% (81)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$44,492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PMF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$3,888,500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-22.5% (42)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-$474,039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United Secured Capital 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$3,865,000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-11.4% (131)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-$320,652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Westwood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$2,023,000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37.0% (36)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$366,030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Ballicci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$1,832,000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-13.8% (45)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-$164,331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Premium Capital (AMRK)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$898,500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27.8% (22)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$123,490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TRUSTFI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-28.3% (9)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-$51,830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National Business Capital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$533,500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9.0% (8)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$16,016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Shore Funding USA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$481,000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-2.9% (20)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-$11,102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 Loan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$475,500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12.9% (10)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$20,489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Platform Funding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$463,000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19.9%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-5.0% (16)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-$16,662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Fidelity Funding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$450,000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6.8% (12)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$25,673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Credibly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$330,000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-45.6% (2)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-$22,806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Vanguard Equities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$324,500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17.7% (15)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$30,949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Fundible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$310,500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-19.3% (16)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-$43,844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Industry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/>
          <p:nvPr/>
        </p:nvSpPr>
        <p:spPr>
          <a:xfrm>
            <a:off x="5806440" y="63825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6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Industry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Eating &amp; Drinking Places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$4,078,500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2.2% (102)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$58,406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Building Contractors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$2,425,000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-22.9% (92)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-$406,926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Health Services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$2,073,000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-18.6% (43)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-$219,569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Trade Contractors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$1,849,000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-28.2% (38)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-$354,183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Trucking &amp; Warehousing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$1,723,000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-0.1% (56)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-$1,405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Miscellaneous Retail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$1,693,000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1.4% (53)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$13,200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 Repair &amp; Services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$1,179,500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14.8%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5.8% (42)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$44,124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Business Services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$987,000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-1.6% (32)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-$11,870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Engineering, Accounting &amp; Management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$973,000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8.9% (25)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$60,463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Legal Services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$838,500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37.8% (6)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$168,065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Wholesale Trade - Nondurable Goods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$833,500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-16.1% (8)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-$108,553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Estate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$763,500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-26.8% (13)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-$167,147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 Services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$749,126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27.7% (32)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$139,113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 Dealers &amp; Gas Stations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$685,000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-45.7% (10)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-$173,472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Wholesale Trade - Durable Goods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$680,500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13.0% (14)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$62,498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State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 txBox="1"/>
          <p:nvPr/>
        </p:nvSpPr>
        <p:spPr>
          <a:xfrm>
            <a:off x="5806440" y="63825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7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TX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$5,010,500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13.8%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5.5% (136)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$179,437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$3,771,000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-2.8% (88)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-$58,066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$2,727,000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-11.7% (81)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-$232,875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NJ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$1,393,000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-9.2% (22)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-$64,331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$1,368,500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-4.9% (31)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-$37,198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$1,195,500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23.9%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-7.2% (23)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-$60,216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$1,131,500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26.5% (24)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$243,396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AZ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$988,500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-12.6% (18)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-$47,538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$928,000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-13.4% (22)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-$53,277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NC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$926,000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-44.1% (22)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-$293,874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TN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$901,000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-4.3% (19)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-$26,691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$854,500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-45.7% (13)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-$223,768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$628,000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24.0% (15)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$82,364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$587,500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14.3% (19)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$77,995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$575,500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-14.5% (16)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-$77,016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Position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33284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 txBox="1"/>
          <p:nvPr/>
        </p:nvSpPr>
        <p:spPr>
          <a:xfrm>
            <a:off x="5806440" y="4334256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8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$4,548,500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12.9%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6.2% (129)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$198,506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$6,406,500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-5.7% (166)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-$239,599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$14,599,500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18.8%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-13.2% (306)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-$1,127,784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$3,128,626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3.6% (80)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$76,692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$771,000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22.3% (30)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$139,482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$467,000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13.0% (26)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$52,647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$543,500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35.6% (19)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$95,538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$65,000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27.2%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-1.3% (3)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-$855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Deal size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2633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5806440" y="371246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" name="Google Shape;109;p9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 size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$10K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$978,000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-0.9% (152)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-$7,571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$10-20K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$3,930,000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-3.5% (242)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-$110,292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$20-30K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$5,136,626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19.4%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-0.8% (178)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-$33,280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$30-50K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$5,763,000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-8.2% (115)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-$327,872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$50-100K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$4,478,000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-8.3% (42)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-$224,679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$100K+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$10,255,000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-2.3% (31)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-$112,679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Term (business days)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 txBox="1"/>
          <p:nvPr/>
        </p:nvSpPr>
        <p:spPr>
          <a:xfrm>
            <a:off x="5806440" y="340156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10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Term (business days)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60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$2,224,500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-1.7% (206)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-$35,759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60-89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$6,340,626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-3.4% (245)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-$166,296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90-119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$3,706,500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4.6% (112)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$119,977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120-149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$5,937,000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23.1%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-18.2% (114)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-$716,856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150+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$12,332,000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-0.3% (83)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-$17,440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Factor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2633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5806440" y="371246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1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Factor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1.35 and under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$2,691,500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10.7% (31)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$168,277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1.36-1.42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$8,291,626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16.4%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-6.3% (122)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-$332,976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1.43-1.45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$3,190,500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-5.7% (48)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-$78,463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1.46-1.48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$1,881,000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37.2% (31)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F7D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$408,370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$12,239,500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20.9%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-9.1% (385)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-$721,965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Above 1.49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$2,246,500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33.4%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-11.7% (143)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-$259,617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Advance to revenue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152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Deals have no revenue data(79 closed, 69 Defaulted, 4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17320"/>
            <a:ext cx="53492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2"/>
          <p:cNvSpPr txBox="1"/>
          <p:nvPr/>
        </p:nvSpPr>
        <p:spPr>
          <a:xfrm>
            <a:off x="5806440" y="340156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12"/>
          <p:cNvGraphicFramePr/>
          <p:nvPr/>
        </p:nvGraphicFramePr>
        <p:xfrm>
          <a:off x="56692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{2F526195-047A-43E4-AA03-BD0D79A4FCBA}</a:tableStyleId>
              </a:tblPr>
              <a:tblGrid>
                <a:gridCol w="365750"/>
                <a:gridCol w="1737350"/>
                <a:gridCol w="512075"/>
                <a:gridCol w="960125"/>
                <a:gridCol w="694950"/>
                <a:gridCol w="960125"/>
                <a:gridCol w="8778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Advance to revenue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Funded $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Lost rate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Return* (deals)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6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0.15x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$3,556,500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-15.3% (98)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-$399,891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0.15-0.30x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$6,681,000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-3.7% (188)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-$146,967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0.30-0.50x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$9,830,500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-6.5% (185)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-$400,212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0.50-1.00x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$7,438,500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-1.8% (126)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-$74,381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6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68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1.00x+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$821,500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13.7%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433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-13.2% (15)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B0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-$49,683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New vs renewal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All categories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745236" y="1737360"/>
            <a:ext cx="5120640" cy="4297680"/>
          </a:xfrm>
          <a:prstGeom prst="roundRect">
            <a:avLst>
              <a:gd fmla="val 1702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1110996" y="20574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New Deal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1110996" y="26974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18.4%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1110996" y="3703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1110996" y="4343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$23,765,626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1110996" y="48006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806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1110996" y="5257800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-7.4%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(634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3A"/>
                </a:solidFill>
                <a:latin typeface="Arial"/>
                <a:ea typeface="Arial"/>
                <a:cs typeface="Arial"/>
                <a:sym typeface="Arial"/>
              </a:rPr>
              <a:t>-$1,162,866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1110996" y="56692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77.8%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6323076" y="1737360"/>
            <a:ext cx="5120640" cy="4297680"/>
          </a:xfrm>
          <a:prstGeom prst="roundRect">
            <a:avLst>
              <a:gd fmla="val 1702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6688836" y="20574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Renewal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6688836" y="26974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12.1%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6688836" y="3703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6688836" y="4343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$6,775,000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6688836" y="48006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188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6688836" y="5257800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9.2%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(126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7D4F"/>
                </a:solidFill>
                <a:latin typeface="Arial"/>
                <a:ea typeface="Arial"/>
                <a:cs typeface="Arial"/>
                <a:sym typeface="Arial"/>
              </a:rPr>
              <a:t>$346,492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6688836" y="56692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22.2%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Payment frequency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All categories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745236" y="1737360"/>
            <a:ext cx="5120640" cy="4297680"/>
          </a:xfrm>
          <a:prstGeom prst="roundRect">
            <a:avLst>
              <a:gd fmla="val 1702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1110996" y="20574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110996" y="26974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20.3%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110996" y="3703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1110996" y="4343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$10,046,126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110996" y="48006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534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1110996" y="5257800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-1.1%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(451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3A"/>
                </a:solidFill>
                <a:latin typeface="Arial"/>
                <a:ea typeface="Arial"/>
                <a:cs typeface="Arial"/>
                <a:sym typeface="Arial"/>
              </a:rPr>
              <a:t>-$82,393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1110996" y="56692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32.9%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6323076" y="1737360"/>
            <a:ext cx="5120640" cy="4297680"/>
          </a:xfrm>
          <a:prstGeom prst="roundRect">
            <a:avLst>
              <a:gd fmla="val 1702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6688836" y="20574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Weekly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6688836" y="26974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15.3%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6688836" y="3703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688836" y="4343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$20,494,500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6688836" y="48006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460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6688836" y="5257800"/>
            <a:ext cx="4389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-6.2%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(309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3A"/>
                </a:solidFill>
                <a:latin typeface="Arial"/>
                <a:ea typeface="Arial"/>
                <a:cs typeface="Arial"/>
                <a:sym typeface="Arial"/>
              </a:rPr>
              <a:t>-$733,981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6688836" y="56692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67.1%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3A6E"/>
                </a:solidFill>
                <a:latin typeface="Cambria"/>
                <a:ea typeface="Cambria"/>
                <a:cs typeface="Cambria"/>
                <a:sym typeface="Cambria"/>
              </a:rPr>
              <a:t>Funding year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All years · 2026 is through 06/30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288036" y="1737360"/>
            <a:ext cx="3566160" cy="4297680"/>
          </a:xfrm>
          <a:prstGeom prst="roundRect">
            <a:avLst>
              <a:gd fmla="val 2051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653796" y="2057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53796" y="269748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46.4%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653796" y="37033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653796" y="4343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$61,000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653796" y="4800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653796" y="525780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-37.2%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(6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3A"/>
                </a:solidFill>
                <a:latin typeface="Arial"/>
                <a:ea typeface="Arial"/>
                <a:cs typeface="Arial"/>
                <a:sym typeface="Arial"/>
              </a:rPr>
              <a:t>-$22,711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653796" y="56692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0.2%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311396" y="1737360"/>
            <a:ext cx="3566160" cy="4297680"/>
          </a:xfrm>
          <a:prstGeom prst="roundRect">
            <a:avLst>
              <a:gd fmla="val 2051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4677156" y="2057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4677156" y="269748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16.9%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4677156" y="37033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4677156" y="4343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$11,170,126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4677156" y="4800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491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4677156" y="525780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6.6%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(472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7D4F"/>
                </a:solidFill>
                <a:latin typeface="Arial"/>
                <a:ea typeface="Arial"/>
                <a:cs typeface="Arial"/>
                <a:sym typeface="Arial"/>
              </a:rPr>
              <a:t>$659,691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4677156" y="56692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36.6%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8334756" y="1737360"/>
            <a:ext cx="3566160" cy="4297680"/>
          </a:xfrm>
          <a:prstGeom prst="roundRect">
            <a:avLst>
              <a:gd fmla="val 2051" name="adj"/>
            </a:avLst>
          </a:prstGeom>
          <a:solidFill>
            <a:srgbClr val="EFF4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8700516" y="2057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8700516" y="269748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2E5FA3"/>
                </a:solidFill>
                <a:latin typeface="Cambria"/>
                <a:ea typeface="Cambria"/>
                <a:cs typeface="Cambria"/>
                <a:sym typeface="Cambria"/>
              </a:rPr>
              <a:t>17.0%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8700516" y="37033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PRINCIPAL LOST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8700516" y="4343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$19,309,500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funded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8700516" y="4800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497</a:t>
            </a:r>
            <a:r>
              <a:rPr b="0" i="0" lang="en-US" sz="15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deals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8700516" y="5257800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2433"/>
                </a:solidFill>
                <a:latin typeface="Arial"/>
                <a:ea typeface="Arial"/>
                <a:cs typeface="Arial"/>
                <a:sym typeface="Arial"/>
              </a:rPr>
              <a:t>-15.3%</a:t>
            </a:r>
            <a:r>
              <a:rPr b="0" i="0" lang="en-US" sz="13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  return, excl. open (282 deals)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3A3A"/>
                </a:solidFill>
                <a:latin typeface="Arial"/>
                <a:ea typeface="Arial"/>
                <a:cs typeface="Arial"/>
                <a:sym typeface="Arial"/>
              </a:rPr>
              <a:t>-$1,453,354  net cash, excl. open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8700516" y="56692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686"/>
                </a:solidFill>
                <a:latin typeface="Arial"/>
                <a:ea typeface="Arial"/>
                <a:cs typeface="Arial"/>
                <a:sym typeface="Arial"/>
              </a:rPr>
              <a:t>63.2% of book dollars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